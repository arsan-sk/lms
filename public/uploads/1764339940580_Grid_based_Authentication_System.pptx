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85" r:id="rId6"/>
    <p:sldId id="305" r:id="rId7"/>
    <p:sldId id="286" r:id="rId8"/>
    <p:sldId id="298" r:id="rId9"/>
    <p:sldId id="310" r:id="rId10"/>
    <p:sldId id="287" r:id="rId11"/>
    <p:sldId id="299" r:id="rId12"/>
    <p:sldId id="288" r:id="rId13"/>
    <p:sldId id="300" r:id="rId14"/>
    <p:sldId id="289" r:id="rId15"/>
    <p:sldId id="301" r:id="rId16"/>
    <p:sldId id="290" r:id="rId17"/>
    <p:sldId id="302" r:id="rId18"/>
    <p:sldId id="291" r:id="rId19"/>
    <p:sldId id="308" r:id="rId20"/>
    <p:sldId id="306" r:id="rId21"/>
    <p:sldId id="297" r:id="rId22"/>
    <p:sldId id="295" r:id="rId23"/>
    <p:sldId id="303" r:id="rId24"/>
    <p:sldId id="296" r:id="rId25"/>
    <p:sldId id="307" r:id="rId26"/>
    <p:sldId id="309" r:id="rId27"/>
    <p:sldId id="304" r:id="rId28"/>
    <p:sldId id="293" r:id="rId29"/>
    <p:sldId id="292" r:id="rId30"/>
    <p:sldId id="28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45"/>
    <a:srgbClr val="D24726"/>
    <a:srgbClr val="DD462F"/>
    <a:srgbClr val="404040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241" autoAdjust="0"/>
  </p:normalViewPr>
  <p:slideViewPr>
    <p:cSldViewPr snapToGrid="0" showGuides="1">
      <p:cViewPr varScale="1">
        <p:scale>
          <a:sx n="59" d="100"/>
          <a:sy n="59" d="100"/>
        </p:scale>
        <p:origin x="836" y="48"/>
      </p:cViewPr>
      <p:guideLst>
        <p:guide orient="horz" pos="2160"/>
        <p:guide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aseline="0" dirty="0"/>
              <a:t>Slide Show mode, select the arrows to visit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27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10/17/2025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0345" y="265430"/>
            <a:ext cx="10385425" cy="1468120"/>
          </a:xfrm>
        </p:spPr>
        <p:txBody>
          <a:bodyPr anchor="ctr" anchorCtr="0">
            <a:normAutofit fontScale="90000"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AIKTC – Anjuman-I-Islam’s </a:t>
            </a:r>
            <a:r>
              <a:rPr lang="en-US" sz="4000" b="1" dirty="0" err="1">
                <a:solidFill>
                  <a:schemeClr val="bg1"/>
                </a:solidFill>
              </a:rPr>
              <a:t>Kalsekar</a:t>
            </a:r>
            <a:r>
              <a:rPr lang="en-US" sz="4000" b="1" dirty="0">
                <a:solidFill>
                  <a:schemeClr val="bg1"/>
                </a:solidFill>
              </a:rPr>
              <a:t> Technical Campus.</a:t>
            </a:r>
            <a:br>
              <a:rPr lang="en-US" sz="4000" b="1" dirty="0">
                <a:solidFill>
                  <a:schemeClr val="bg1"/>
                </a:solidFill>
              </a:rPr>
            </a:br>
            <a:r>
              <a:rPr lang="en-US" sz="3600" b="1" dirty="0">
                <a:solidFill>
                  <a:schemeClr val="bg1"/>
                </a:solidFill>
              </a:rPr>
              <a:t>Department of Electronics and Computer Science Engineering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10" y="1188720"/>
            <a:ext cx="1582420" cy="1667510"/>
          </a:xfrm>
          <a:prstGeom prst="rect">
            <a:avLst/>
          </a:prstGeom>
        </p:spPr>
      </p:pic>
      <p:sp>
        <p:nvSpPr>
          <p:cNvPr id="7" name="Title 1"/>
          <p:cNvSpPr txBox="1"/>
          <p:nvPr/>
        </p:nvSpPr>
        <p:spPr>
          <a:xfrm>
            <a:off x="1709852" y="1880591"/>
            <a:ext cx="9017285" cy="218529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1" hangingPunct="1"/>
            <a:r>
              <a:rPr lang="en-IN" altLang="en-US" dirty="0">
                <a:solidFill>
                  <a:schemeClr val="bg1"/>
                </a:solidFill>
              </a:rPr>
              <a:t> </a:t>
            </a:r>
            <a:r>
              <a:rPr lang="en-IN" altLang="en-US" sz="3900" b="1" dirty="0">
                <a:solidFill>
                  <a:schemeClr val="bg1"/>
                </a:solidFill>
              </a:rPr>
              <a:t>TE Mini Project-2A</a:t>
            </a:r>
          </a:p>
          <a:p>
            <a:pPr algn="ctr" eaLnBrk="1" hangingPunct="1"/>
            <a:r>
              <a:rPr lang="en-US" altLang="en-IN" sz="3900" b="1" dirty="0">
                <a:solidFill>
                  <a:schemeClr val="bg1"/>
                </a:solidFill>
              </a:rPr>
              <a:t>Final </a:t>
            </a:r>
            <a:r>
              <a:rPr lang="en-IN" altLang="en-US" sz="3900" b="1" dirty="0">
                <a:solidFill>
                  <a:schemeClr val="bg1"/>
                </a:solidFill>
              </a:rPr>
              <a:t>Presentation </a:t>
            </a:r>
          </a:p>
          <a:p>
            <a:pPr algn="ctr" eaLnBrk="1" hangingPunct="1"/>
            <a:r>
              <a:rPr lang="en-IN" altLang="en-US" i="1" dirty="0">
                <a:solidFill>
                  <a:schemeClr val="bg1"/>
                </a:solidFill>
              </a:rPr>
              <a:t>On</a:t>
            </a:r>
          </a:p>
          <a:p>
            <a:pPr algn="ctr" eaLnBrk="1" hangingPunct="1"/>
            <a:r>
              <a:rPr lang="en-IN" altLang="en-US" sz="3200" i="1" dirty="0">
                <a:solidFill>
                  <a:schemeClr val="bg1"/>
                </a:solidFill>
              </a:rPr>
              <a:t>“</a:t>
            </a:r>
            <a:r>
              <a:rPr lang="en-IN" altLang="en-US" sz="3200" i="1" dirty="0" err="1">
                <a:solidFill>
                  <a:schemeClr val="bg1"/>
                </a:solidFill>
              </a:rPr>
              <a:t>GridLock</a:t>
            </a:r>
            <a:r>
              <a:rPr lang="en-IN" altLang="en-US" sz="3200" i="1" dirty="0">
                <a:solidFill>
                  <a:schemeClr val="bg1"/>
                </a:solidFill>
              </a:rPr>
              <a:t>: Grid Based Two Factor Authentication System.”</a:t>
            </a:r>
          </a:p>
          <a:p>
            <a:pPr algn="ctr" eaLnBrk="1" hangingPunct="1"/>
            <a:r>
              <a:rPr lang="en-IN" altLang="en-US" sz="3200" dirty="0">
                <a:solidFill>
                  <a:schemeClr val="bg1"/>
                </a:solidFill>
              </a:rPr>
              <a:t>By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390419" y="5445327"/>
            <a:ext cx="11485652" cy="563366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92580" y="4065905"/>
            <a:ext cx="925195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Roll No.                		23EC23</a:t>
            </a: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</a:rPr>
              <a:t>, 23EC14, 23EC57, 23EC59</a:t>
            </a: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                         </a:t>
            </a:r>
            <a:r>
              <a:rPr lang="en-US" altLang="en-IN" sz="20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     </a:t>
            </a: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  </a:t>
            </a:r>
            <a:r>
              <a:rPr lang="en-US" altLang="en-IN" sz="20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       </a:t>
            </a:r>
          </a:p>
          <a:p>
            <a:pPr eaLnBrk="1" hangingPunct="1">
              <a:defRPr/>
            </a:pP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Name of </a:t>
            </a: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Arial" panose="020B0604020202020204" pitchFamily="34" charset="0"/>
              </a:rPr>
              <a:t>Students. 	Kalsekar Abdul Rehman Abdul Alim,  </a:t>
            </a:r>
          </a:p>
          <a:p>
            <a:pPr eaLnBrk="1" hangingPunct="1">
              <a:defRPr/>
            </a:pP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Arial" panose="020B0604020202020204" pitchFamily="34" charset="0"/>
              </a:rPr>
              <a:t>			Ansari Mohd Adnan Mohd Ali, </a:t>
            </a:r>
          </a:p>
          <a:p>
            <a:pPr eaLnBrk="1" hangingPunct="1">
              <a:defRPr/>
            </a:pP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Arial" panose="020B0604020202020204" pitchFamily="34" charset="0"/>
              </a:rPr>
              <a:t>			Shaikh Mohd Affan Mohd Umar, </a:t>
            </a:r>
          </a:p>
          <a:p>
            <a:pPr eaLnBrk="1" hangingPunct="1">
              <a:defRPr/>
            </a:pPr>
            <a:r>
              <a:rPr lang="en-IN" sz="2000" b="1" dirty="0">
                <a:solidFill>
                  <a:schemeClr val="bg1"/>
                </a:solidFill>
                <a:latin typeface="Source Sans Pro" pitchFamily="34" charset="0"/>
                <a:cs typeface="Arial" panose="020B0604020202020204" pitchFamily="34" charset="0"/>
              </a:rPr>
              <a:t>			Shaikh Mohd Arsan Abdul Sattar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87712" y="5675713"/>
            <a:ext cx="5616575" cy="11382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IN" altLang="en-US" sz="25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Guided by </a:t>
            </a:r>
          </a:p>
          <a:p>
            <a:pPr algn="ctr" eaLnBrk="1" hangingPunct="1">
              <a:buFont typeface="Arial" panose="020B0604020202020204" pitchFamily="34" charset="0"/>
              <a:buNone/>
              <a:defRPr/>
            </a:pPr>
            <a:r>
              <a:rPr lang="en-IN" altLang="en-US" sz="2500" b="1" dirty="0">
                <a:solidFill>
                  <a:schemeClr val="bg1"/>
                </a:solidFill>
                <a:latin typeface="Source Sans Pro" pitchFamily="34" charset="0"/>
                <a:cs typeface="+mn-cs"/>
              </a:rPr>
              <a:t>Mr. Muhammed </a:t>
            </a:r>
            <a:r>
              <a:rPr lang="en-IN" altLang="en-US" sz="2500" b="1" dirty="0" err="1">
                <a:solidFill>
                  <a:schemeClr val="bg1"/>
                </a:solidFill>
                <a:latin typeface="Source Sans Pro" pitchFamily="34" charset="0"/>
                <a:cs typeface="+mn-cs"/>
              </a:rPr>
              <a:t>Isamaeel</a:t>
            </a:r>
            <a:endParaRPr lang="en-IN" altLang="en-US" sz="2500" b="1" dirty="0">
              <a:solidFill>
                <a:schemeClr val="bg1"/>
              </a:solidFill>
              <a:latin typeface="Source Sans Pro" pitchFamily="34" charset="0"/>
              <a:cs typeface="+mn-cs"/>
            </a:endParaRPr>
          </a:p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Outline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4209" y="1213778"/>
            <a:ext cx="858770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existing systems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and Architecture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Methodology/ Techniques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63525" indent="-263525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3A896-D0C2-1881-0065-52EF3133C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A07B8-57B6-B111-FF26-86A0C848D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9" y="3429000"/>
            <a:ext cx="9048569" cy="640080"/>
          </a:xfrm>
        </p:spPr>
        <p:txBody>
          <a:bodyPr>
            <a:noAutofit/>
          </a:bodyPr>
          <a:lstStyle/>
          <a:p>
            <a:pPr lvl="0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Introduction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A480E88-939C-3A7A-DBE8-9DD716C8E140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4686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Introduction: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8452" y="1673954"/>
            <a:ext cx="55747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GridLock</a:t>
            </a:r>
            <a:r>
              <a:rPr lang="en-US" sz="2000" dirty="0"/>
              <a:t> is a next-generation authentication system that replaces outdated passwords with a multi-layer grid-based security mechanism.</a:t>
            </a:r>
          </a:p>
          <a:p>
            <a:r>
              <a:rPr lang="en-US" sz="2000" dirty="0"/>
              <a:t>It uses two steps — text grid input and color/digit grid patterns — to ensure authentication is both personalized and highly secure.</a:t>
            </a:r>
          </a:p>
          <a:p>
            <a:r>
              <a:rPr lang="en-US" sz="2000" dirty="0" err="1"/>
              <a:t>GridLock</a:t>
            </a:r>
            <a:r>
              <a:rPr lang="en-US" sz="2000" dirty="0"/>
              <a:t> integrates easily with any platform through OIDC (OpenID Connect), functioning as a standalone Identity Provider (IdP) that websites can adopt, just like “Login with Google.”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233323-F238-362A-A7CC-37610BF4C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315" y="1539105"/>
            <a:ext cx="3973285" cy="3973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70131-1B3C-AE19-8C48-EC463662D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E6F0-9B56-6E31-0A6E-46313D3F6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9" y="3429000"/>
            <a:ext cx="9048569" cy="640080"/>
          </a:xfrm>
        </p:spPr>
        <p:txBody>
          <a:bodyPr>
            <a:noAutofit/>
          </a:bodyPr>
          <a:lstStyle/>
          <a:p>
            <a:pPr lvl="0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Literature Survey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D6C01310-16AF-A60F-502B-D9D158AFCA48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7545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368C0-4E78-2BFE-09F3-AA0C16D8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22B2A-5D7E-11A6-B41F-05B4AC0F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97" y="29311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Literature Survey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6E1E1E1-E71E-AC37-ED11-7F0C4A0D7D76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B43D300-15AF-6CA8-CAD1-27266D47AE2E}"/>
              </a:ext>
            </a:extLst>
          </p:cNvPr>
          <p:cNvGraphicFramePr>
            <a:graphicFrameLocks noGrp="1"/>
          </p:cNvGraphicFramePr>
          <p:nvPr/>
        </p:nvGraphicFramePr>
        <p:xfrm>
          <a:off x="484414" y="1308554"/>
          <a:ext cx="11108872" cy="46018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15883">
                  <a:extLst>
                    <a:ext uri="{9D8B030D-6E8A-4147-A177-3AD203B41FA5}">
                      <a16:colId xmlns:a16="http://schemas.microsoft.com/office/drawing/2014/main" val="3837973297"/>
                    </a:ext>
                  </a:extLst>
                </a:gridCol>
                <a:gridCol w="3442186">
                  <a:extLst>
                    <a:ext uri="{9D8B030D-6E8A-4147-A177-3AD203B41FA5}">
                      <a16:colId xmlns:a16="http://schemas.microsoft.com/office/drawing/2014/main" val="3341456720"/>
                    </a:ext>
                  </a:extLst>
                </a:gridCol>
                <a:gridCol w="3650803">
                  <a:extLst>
                    <a:ext uri="{9D8B030D-6E8A-4147-A177-3AD203B41FA5}">
                      <a16:colId xmlns:a16="http://schemas.microsoft.com/office/drawing/2014/main" val="1583207260"/>
                    </a:ext>
                  </a:extLst>
                </a:gridCol>
              </a:tblGrid>
              <a:tr h="2681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 System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 / Limitations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24313319"/>
                  </a:ext>
                </a:extLst>
              </a:tr>
              <a:tr h="18771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Password-Based Authentication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enters a username and password stored (hashed) on the server.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Vulnerable to brute-force and dictionary attacks.- Users often reuse passwords.- Susceptible to phishing.- Forgotten passwords lead to usability issues.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3215308"/>
                  </a:ext>
                </a:extLst>
              </a:tr>
              <a:tr h="10726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PIN-Based Authentication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 numeric code (usually 4–6 digits) used for verification.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Easy to guess if short.- Susceptible to shoulder surfing.- Limited entropy (only numbers).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34870161"/>
                  </a:ext>
                </a:extLst>
              </a:tr>
              <a:tr h="134083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OTP-Based Authentication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One-time password sent via SMS, email, or app (valid for a short time).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Requires network connectivity.- Vulnerable to SIM-swapping and phishing.- User inconvenience (time-sensitive).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5844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9110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397" y="29311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Literature Survey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FCD2E5-1CB0-CF93-39DE-511453346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12697"/>
              </p:ext>
            </p:extLst>
          </p:nvPr>
        </p:nvGraphicFramePr>
        <p:xfrm>
          <a:off x="473529" y="1335313"/>
          <a:ext cx="11163300" cy="45865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35559">
                  <a:extLst>
                    <a:ext uri="{9D8B030D-6E8A-4147-A177-3AD203B41FA5}">
                      <a16:colId xmlns:a16="http://schemas.microsoft.com/office/drawing/2014/main" val="4004004668"/>
                    </a:ext>
                  </a:extLst>
                </a:gridCol>
                <a:gridCol w="3459051">
                  <a:extLst>
                    <a:ext uri="{9D8B030D-6E8A-4147-A177-3AD203B41FA5}">
                      <a16:colId xmlns:a16="http://schemas.microsoft.com/office/drawing/2014/main" val="3725228326"/>
                    </a:ext>
                  </a:extLst>
                </a:gridCol>
                <a:gridCol w="3668690">
                  <a:extLst>
                    <a:ext uri="{9D8B030D-6E8A-4147-A177-3AD203B41FA5}">
                      <a16:colId xmlns:a16="http://schemas.microsoft.com/office/drawing/2014/main" val="3833341003"/>
                    </a:ext>
                  </a:extLst>
                </a:gridCol>
              </a:tblGrid>
              <a:tr h="14332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Token-Based Authentication (JWT, OAuth)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encrypted tokens instead of passwords for API or session access.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Tokens can be stolen if not securely handled.- Session revocation is complex.- Token expiry must be managed carefully.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335128"/>
                  </a:ext>
                </a:extLst>
              </a:tr>
              <a:tr h="171994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Graphical / Pattern-Based Authentication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selects or draws a pattern on a grid instead of typing a password.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Vulnerable to smudge attacks (residual finger traces).- Patterns can be observed (shoulder surfing).- Limited number of unique patterns.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38059116"/>
                  </a:ext>
                </a:extLst>
              </a:tr>
              <a:tr h="143328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Login (OAuth-based)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 using existing accounts (Google, Facebook, GitHub, etc.).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Data privacy concerns (third-party tracking).- Dependent on external service availability.- Potential for token misuse.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4231787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905D7-4A83-921B-ABC0-8E93EAEC0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D1A27-7527-DDB3-A756-80EE87B6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9" y="3429000"/>
            <a:ext cx="9048569" cy="640080"/>
          </a:xfrm>
        </p:spPr>
        <p:txBody>
          <a:bodyPr>
            <a:noAutofit/>
          </a:bodyPr>
          <a:lstStyle/>
          <a:p>
            <a:pPr lvl="0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Limitations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1171CC2-3EE0-606E-6856-C94A727DDA04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1495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Limitations of Existing System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9D57E7-C07A-A892-D612-F3C58413A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868917"/>
              </p:ext>
            </p:extLst>
          </p:nvPr>
        </p:nvGraphicFramePr>
        <p:xfrm>
          <a:off x="718457" y="1254125"/>
          <a:ext cx="10896600" cy="46876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4972">
                  <a:extLst>
                    <a:ext uri="{9D8B030D-6E8A-4147-A177-3AD203B41FA5}">
                      <a16:colId xmlns:a16="http://schemas.microsoft.com/office/drawing/2014/main" val="1332130782"/>
                    </a:ext>
                  </a:extLst>
                </a:gridCol>
                <a:gridCol w="8131628">
                  <a:extLst>
                    <a:ext uri="{9D8B030D-6E8A-4147-A177-3AD203B41FA5}">
                      <a16:colId xmlns:a16="http://schemas.microsoft.com/office/drawing/2014/main" val="3479257421"/>
                    </a:ext>
                  </a:extLst>
                </a:gridCol>
              </a:tblGrid>
              <a:tr h="1832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Category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1" u="none" strike="noStrike" dirty="0">
                          <a:effectLst/>
                        </a:rPr>
                        <a:t>Limitations / Challenges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577968327"/>
                  </a:ext>
                </a:extLst>
              </a:tr>
              <a:tr h="9161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effectLst/>
                        </a:rPr>
                        <a:t>1. Password-based Authentication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- Users often create weak or reused passwords.- Susceptible to phishing, credential stuffing, brute-force attacks.- Hard to remember complex credentials.- Frequent password resets reduce usability.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1591999279"/>
                  </a:ext>
                </a:extLst>
              </a:tr>
              <a:tr h="7328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u="none" strike="noStrike" dirty="0">
                          <a:effectLst/>
                        </a:rPr>
                        <a:t>2. OTP / SMS-based Two-Factor (2FA)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- SMS and email channels are vulnerable to SIM swapping, interception, or phishing.- Relies on third-party telecom networks.- Adds friction for users, especially offline.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3808499316"/>
                  </a:ext>
                </a:extLst>
              </a:tr>
              <a:tr h="73289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effectLst/>
                        </a:rPr>
                        <a:t>3. Token-based / Hardware Keys (e.g., RSA, YubiKey)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- Requires users to carry physical devices.- Lost or stolen tokens cause access issues.- High deployment and replacement cost for enterprises.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2267772835"/>
                  </a:ext>
                </a:extLst>
              </a:tr>
              <a:tr h="91612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u="none" strike="noStrike" dirty="0">
                          <a:effectLst/>
                        </a:rPr>
                        <a:t>4. Biometric Systems (Fingerprint, Face, Iris)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- Privacy concerns; biometric data, once stolen, cannot be changed.- Spoofing via high-quality replicas or photos.- Environmental and hardware dependency (lighting, fingerprint quality).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3246264386"/>
                  </a:ext>
                </a:extLst>
              </a:tr>
              <a:tr h="5496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00" b="0" u="none" strike="noStrike" dirty="0">
                          <a:effectLst/>
                        </a:rPr>
                        <a:t>5. Knowledge-based Questions (KBA)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- Answers can be guessed or socially engineered.- Many answers are publicly available or reused.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3093151350"/>
                  </a:ext>
                </a:extLst>
              </a:tr>
              <a:tr h="5496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b="0" u="none" strike="noStrike" dirty="0">
                          <a:effectLst/>
                        </a:rPr>
                        <a:t>6. Magic Links / Email Authentication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- Dependent on email account security.- Links can be intercepted if email is compromised.- Latency issues (slow email delivery).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002" marR="6002" marT="6002" marB="0" anchor="ctr"/>
                </a:tc>
                <a:extLst>
                  <a:ext uri="{0D108BD9-81ED-4DB2-BD59-A6C34878D82A}">
                    <a16:rowId xmlns:a16="http://schemas.microsoft.com/office/drawing/2014/main" val="3581312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4108-D9F9-7A46-DBBE-69D50F993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0A04-7B3A-17FD-E373-05F99BD85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9" y="3429000"/>
            <a:ext cx="9048569" cy="640080"/>
          </a:xfrm>
        </p:spPr>
        <p:txBody>
          <a:bodyPr>
            <a:noAutofit/>
          </a:bodyPr>
          <a:lstStyle/>
          <a:p>
            <a:pPr lvl="0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Problem Statement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FAECC19D-7754-3B95-B0D2-F4FE4993446E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42618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Problem Statement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7407" y="1415431"/>
            <a:ext cx="6391222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secure, customizable, and user-friendly authentication system that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password vulnerabilities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phishing risks.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multi-factor protection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grid-based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Supports cross-platform login using modern web standards (OIDC).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authentication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maintaining scalability, flexibility, and user privacy.</a:t>
            </a:r>
            <a:endPara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7AC2C4-4D61-6818-4B10-0CDCCD93B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315" y="1539105"/>
            <a:ext cx="3973285" cy="3973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9E4CE-1CC5-3E1C-60BE-CC8E4F58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3B39-253E-DD17-9A61-F63602994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9" y="3429000"/>
            <a:ext cx="9048569" cy="640080"/>
          </a:xfrm>
        </p:spPr>
        <p:txBody>
          <a:bodyPr>
            <a:noAutofit/>
          </a:bodyPr>
          <a:lstStyle/>
          <a:p>
            <a:pPr lvl="0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System Design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4220AAAB-F1F7-7D5A-CA1A-08679B3E0A78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917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System Design and Architecture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4208" y="1213778"/>
            <a:ext cx="591316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select grid size (3×3–10×10), enter text in chosen cells, and select a color or digit pattern.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Inputs are hashed, salted, and securely stored in an encrypted database.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During login, users reproduce their text and color pattern. The system verifies against stored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hashes.OIDC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Acts as an Identity Provider, issuing JWT tokens to third-party websites upon successful authentication.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Recovery Mechanism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Multi-OTP verification (email &amp; phone) for account recovery in case of failed grid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recall.Accessibility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Color-blind mode toggles digits instead of colors.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BEC9AC9-74CD-2002-81B8-FD317EFB5A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D5BC48-9BB2-E02A-E042-A92AD7F35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371" y="1359915"/>
            <a:ext cx="4901882" cy="44078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A78F-AE65-9B88-4F03-AEABC38D5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DABCA-20A9-707F-16E0-8296BC7A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9" y="3429000"/>
            <a:ext cx="9048569" cy="640080"/>
          </a:xfrm>
        </p:spPr>
        <p:txBody>
          <a:bodyPr>
            <a:noAutofit/>
          </a:bodyPr>
          <a:lstStyle/>
          <a:p>
            <a:pPr lvl="0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Proposed Methodology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A88AFED-D7EF-147C-78A4-B02687848814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6579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Proposed Methodology /Techniques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E8FEF2-6D1C-462C-BC10-7E9CC720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602" y="107920"/>
            <a:ext cx="3901489" cy="58545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340E96-8A68-939D-758B-BE9AFB76F282}"/>
              </a:ext>
            </a:extLst>
          </p:cNvPr>
          <p:cNvSpPr txBox="1"/>
          <p:nvPr/>
        </p:nvSpPr>
        <p:spPr>
          <a:xfrm>
            <a:off x="516950" y="1230085"/>
            <a:ext cx="77235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Summary: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on Client Website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Clicks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“Sign in with </a:t>
            </a:r>
            <a:r>
              <a:rPr lang="en-IN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GridLock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OIDC Request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Client sends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response_type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=code,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redirect_uri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scope=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state, nonce,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code_challenge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redirect to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GridLock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(HTTPS).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Step 1: Text Grid Input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User enters characters in registered grid cells.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Step 2: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Pattern Input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Selects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symbol pattern (with accessibility options).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Process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GridLock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validates hashed inputs, state, nonce, IP/device.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Generation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GridLock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issues signed JWT (ID Token + optional Access/Refresh) with claim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grid_auth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=true.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Transmission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Redirect back to client; client exchanges code + verifier for tokens over TLS.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Establishment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Client validates token, creates secure session (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HttpOnly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Secure cookies), optionally fetches profile via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userinfo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DF96E-4624-E9E9-A626-05CF01E23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6EA6-845B-E1C8-9865-1E7A3A3DC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9" y="3429000"/>
            <a:ext cx="9048569" cy="640080"/>
          </a:xfrm>
        </p:spPr>
        <p:txBody>
          <a:bodyPr>
            <a:noAutofit/>
          </a:bodyPr>
          <a:lstStyle/>
          <a:p>
            <a:pPr lvl="0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Roadmap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039ECD26-DF02-AE1F-DD63-AFB551FCCB3A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3543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532ED-321A-5C9B-A325-1D6B6AB25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C0924-50EC-0802-9746-A0759BC45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Roadmap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A718FEE2-7523-AA7E-6FCB-E9FF0D4946DD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F925719-806E-44F6-C766-59A9F55F98BD}"/>
              </a:ext>
            </a:extLst>
          </p:cNvPr>
          <p:cNvSpPr txBox="1"/>
          <p:nvPr/>
        </p:nvSpPr>
        <p:spPr>
          <a:xfrm>
            <a:off x="814209" y="1213778"/>
            <a:ext cx="51933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alt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altLang="en-US" sz="2000" dirty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0B8EEA96-6979-35B5-FF6F-F864C0031C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873A7-2A3D-5DF2-49B4-4B910FB40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462" y="1258808"/>
            <a:ext cx="9237932" cy="4610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71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296FD-7D12-049F-4139-14285475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955C3-8542-1D32-8F05-17D7BD361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9" y="3429000"/>
            <a:ext cx="9048569" cy="640080"/>
          </a:xfrm>
        </p:spPr>
        <p:txBody>
          <a:bodyPr>
            <a:noAutofit/>
          </a:bodyPr>
          <a:lstStyle/>
          <a:p>
            <a:pPr lvl="0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Implementation Details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7B59A896-A9B0-9602-E59D-F07EE3166923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89915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Implementation Details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208" y="1088136"/>
            <a:ext cx="6532736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Software Tools:</a:t>
            </a:r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Frontend</a:t>
            </a:r>
            <a:r>
              <a:rPr lang="en-IN" sz="2000" dirty="0"/>
              <a:t>: HTML, CSS, React (JavaScript) – for designing the user interface.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Backend</a:t>
            </a:r>
            <a:r>
              <a:rPr lang="en-IN" sz="2000" dirty="0"/>
              <a:t>: Express.js, </a:t>
            </a:r>
            <a:r>
              <a:rPr lang="en-IN" sz="2000" dirty="0" err="1"/>
              <a:t>Supabase</a:t>
            </a:r>
            <a:r>
              <a:rPr lang="en-IN" sz="2000" dirty="0"/>
              <a:t> for Database.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Database</a:t>
            </a:r>
            <a:r>
              <a:rPr lang="en-IN" sz="2000" dirty="0"/>
              <a:t>: </a:t>
            </a:r>
            <a:r>
              <a:rPr lang="en-IN" sz="2000" dirty="0" err="1"/>
              <a:t>Supabase</a:t>
            </a:r>
            <a:r>
              <a:rPr lang="en-IN" sz="2000" dirty="0"/>
              <a:t>, A MySQL based database for storing user information.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IDE</a:t>
            </a:r>
            <a:r>
              <a:rPr lang="en-IN" sz="2000" dirty="0"/>
              <a:t>: Visual Studio Code – used for coding and development.</a:t>
            </a:r>
          </a:p>
          <a:p>
            <a:pPr>
              <a:lnSpc>
                <a:spcPct val="150000"/>
              </a:lnSpc>
            </a:pPr>
            <a:r>
              <a:rPr lang="en-IN" sz="2000" b="1" dirty="0" err="1"/>
              <a:t>LocalHost</a:t>
            </a:r>
            <a:r>
              <a:rPr lang="en-IN" sz="2000" dirty="0"/>
              <a:t>: Local server for testing React and MySQL integration.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Deployment:</a:t>
            </a:r>
            <a:r>
              <a:rPr lang="en-IN" sz="2000" dirty="0"/>
              <a:t> </a:t>
            </a:r>
            <a:r>
              <a:rPr lang="en-IN" sz="2000" dirty="0" err="1"/>
              <a:t>Vercel</a:t>
            </a:r>
            <a:r>
              <a:rPr lang="en-IN" sz="2000" dirty="0"/>
              <a:t> is used for deployment.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5574D6-930D-6438-CBD9-578FDB3F73EF}"/>
              </a:ext>
            </a:extLst>
          </p:cNvPr>
          <p:cNvSpPr txBox="1"/>
          <p:nvPr/>
        </p:nvSpPr>
        <p:spPr>
          <a:xfrm>
            <a:off x="7053943" y="1251857"/>
            <a:ext cx="4430485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Additional Components: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Web Tokens (JWT)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secure data exchange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+ Phone OTP APIs for recovery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via GitHub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22F31-6B0A-1184-C105-4CBB833BF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548A0-38AC-53F1-467D-CBA41A7F5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9" y="3429000"/>
            <a:ext cx="9048569" cy="640080"/>
          </a:xfrm>
        </p:spPr>
        <p:txBody>
          <a:bodyPr>
            <a:noAutofit/>
          </a:bodyPr>
          <a:lstStyle/>
          <a:p>
            <a:pPr lvl="0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Results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18791DDC-FB1E-A524-5ED5-C833B62035A9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1952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Result Analysis</a:t>
            </a:r>
            <a:endParaRPr lang="en-IN" sz="32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764349" y="1209963"/>
            <a:ext cx="10118510" cy="471978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GridLock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following key outcomes: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OIDC-based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flow between client and server.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grid-based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registration and login functionality.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credential storage and token-based verification.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interoperability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multiple client frameworks (React, Django, Flask).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entropy rate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(over 590 bits) for 10×10 grid configurations, making brute-force practically impossible.(Attach screenshots of working login, dashboard, and demo site integration.)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13E4-C06B-B7B1-D1B3-E646B2A0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AB55854-5FC8-D2E4-CF1D-48F6E8ADA40D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FCE9B7C-2E1B-72F6-B361-33EED97D0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8D774A-609D-97C8-EADB-CEEE1D944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647" y="257186"/>
            <a:ext cx="4845609" cy="57823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654162-A6E0-3D82-37AD-3414F54C2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4666"/>
            <a:ext cx="5497286" cy="565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991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CF981-0AB8-21F5-B766-B12CB6F16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28C101-93A2-2F0D-4852-047FB0A6B683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282753D-8D8D-6538-19FF-032F0C0CD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0FC379-BE37-713E-2F9F-716C951FB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694" y="412937"/>
            <a:ext cx="5907571" cy="55390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C2A11F-1353-7650-D317-937888761E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41" y="325331"/>
            <a:ext cx="4929347" cy="574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781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82F7-1B7B-693D-51E6-5ECE4C20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82AAE-5C1C-5D9C-C801-93028C9AA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419" y="3429000"/>
            <a:ext cx="9048569" cy="640080"/>
          </a:xfrm>
        </p:spPr>
        <p:txBody>
          <a:bodyPr>
            <a:noAutofit/>
          </a:bodyPr>
          <a:lstStyle/>
          <a:p>
            <a:pPr lvl="0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Conclusion and References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84A673B8-0C09-B391-196A-A1FF0BC72032}"/>
              </a:ext>
            </a:extLst>
          </p:cNvPr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57052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Conclusion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C60E3-92F6-45A0-AE47-21FCF35FD836}"/>
              </a:ext>
            </a:extLst>
          </p:cNvPr>
          <p:cNvSpPr txBox="1"/>
          <p:nvPr/>
        </p:nvSpPr>
        <p:spPr>
          <a:xfrm>
            <a:off x="521207" y="1709058"/>
            <a:ext cx="61190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GridLock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demonstrates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user-centric approach to authentication.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merging visual grid interaction with cryptographic verification and OIDC integration, it bridges the gap between usability and high security.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a major leap toward decentralized and privacy-first identity management, reducing dependency on major providers like Google.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046E25F-77BF-3348-9A40-FEBC0EB59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058" y="1382486"/>
            <a:ext cx="4495800" cy="4533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756393" cy="640080"/>
          </a:xfrm>
        </p:spPr>
        <p:txBody>
          <a:bodyPr>
            <a:noAutofit/>
          </a:bodyPr>
          <a:lstStyle/>
          <a:p>
            <a:pPr lvl="0"/>
            <a:r>
              <a:rPr lang="en-US" sz="32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References</a:t>
            </a:r>
          </a:p>
        </p:txBody>
      </p:sp>
      <p:sp>
        <p:nvSpPr>
          <p:cNvPr id="24" name="Title 1"/>
          <p:cNvSpPr txBox="1"/>
          <p:nvPr/>
        </p:nvSpPr>
        <p:spPr>
          <a:xfrm>
            <a:off x="390419" y="6039560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Text 1"/>
          <p:cNvSpPr/>
          <p:nvPr/>
        </p:nvSpPr>
        <p:spPr>
          <a:xfrm>
            <a:off x="521207" y="1365336"/>
            <a:ext cx="10349995" cy="352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latin typeface="Epilogue" pitchFamily="34" charset="0"/>
                <a:ea typeface="Epilogue" pitchFamily="34" charset="-122"/>
                <a:cs typeface="Epilogue" pitchFamily="34" charset="-120"/>
              </a:rPr>
              <a:t>All resources used for development are listed. These include websites, articles, and research papers.</a:t>
            </a:r>
            <a:endParaRPr lang="en-US" sz="1750" dirty="0"/>
          </a:p>
        </p:txBody>
      </p:sp>
      <p:sp>
        <p:nvSpPr>
          <p:cNvPr id="3" name="Rectangle 2"/>
          <p:cNvSpPr/>
          <p:nvPr/>
        </p:nvSpPr>
        <p:spPr>
          <a:xfrm>
            <a:off x="521207" y="1759632"/>
            <a:ext cx="10017484" cy="3338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Epilogue Medium"/>
              </a:rPr>
              <a:t>RFC 6749: OAuth 2.0 Authorization Framework – IETF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Epilogue Medium"/>
              </a:rPr>
              <a:t>OpenID Connect Core Specification – OpenID </a:t>
            </a:r>
            <a:r>
              <a:rPr lang="en-IN" dirty="0" err="1">
                <a:latin typeface="Epilogue Medium"/>
              </a:rPr>
              <a:t>FoundationSupabase</a:t>
            </a:r>
            <a:r>
              <a:rPr lang="en-IN" dirty="0">
                <a:latin typeface="Epilogue Medium"/>
              </a:rPr>
              <a:t>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Epilogue Medium"/>
              </a:rPr>
              <a:t>Documentation – PostgreSQL Integration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Epilogue Medium"/>
              </a:rPr>
              <a:t>Bcrypt</a:t>
            </a:r>
            <a:r>
              <a:rPr lang="en-IN" dirty="0">
                <a:latin typeface="Epilogue Medium"/>
              </a:rPr>
              <a:t> and Argon2 Cryptographic Hashing Papers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Epilogue Medium"/>
              </a:rPr>
              <a:t>Research on Graphical Password Authentication Models (IEEE, 2020–2023)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Epilogue Medium"/>
              </a:rPr>
              <a:t>OWASP Authentication Guidelines</a:t>
            </a:r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21208" y="1053305"/>
            <a:ext cx="6876288" cy="64008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	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619166" y="3096556"/>
            <a:ext cx="9735820" cy="3084830"/>
          </a:xfrm>
        </p:spPr>
        <p:txBody>
          <a:bodyPr>
            <a:normAutofit fontScale="97500"/>
          </a:bodyPr>
          <a:lstStyle/>
          <a:p>
            <a:pPr marL="0" indent="0" algn="ctr">
              <a:lnSpc>
                <a:spcPts val="3600"/>
              </a:lnSpc>
              <a:spcAft>
                <a:spcPts val="0"/>
              </a:spcAft>
              <a:buNone/>
            </a:pPr>
            <a:endParaRPr lang="en-US" sz="115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ctr">
              <a:lnSpc>
                <a:spcPts val="3600"/>
              </a:lnSpc>
              <a:spcAft>
                <a:spcPts val="0"/>
              </a:spcAft>
              <a:buNone/>
            </a:pPr>
            <a:endParaRPr lang="en-US" sz="166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 algn="ctr">
              <a:lnSpc>
                <a:spcPts val="3600"/>
              </a:lnSpc>
              <a:spcAft>
                <a:spcPts val="0"/>
              </a:spcAft>
              <a:buNone/>
            </a:pPr>
            <a:r>
              <a:rPr lang="en-US" sz="166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Thank You</a:t>
            </a:r>
          </a:p>
          <a:p>
            <a:pPr marL="0" indent="0" algn="ctr">
              <a:lnSpc>
                <a:spcPts val="3600"/>
              </a:lnSpc>
              <a:spcAft>
                <a:spcPts val="0"/>
              </a:spcAft>
              <a:buNone/>
            </a:pPr>
            <a:endParaRPr lang="en-US" sz="16600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353174" y="6181386"/>
            <a:ext cx="11485652" cy="4931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dirty="0">
                <a:solidFill>
                  <a:schemeClr val="bg1"/>
                </a:solidFill>
              </a:rPr>
              <a:t>A.I. </a:t>
            </a:r>
            <a:r>
              <a:rPr lang="en-US" sz="2600" dirty="0" err="1">
                <a:solidFill>
                  <a:schemeClr val="bg1"/>
                </a:solidFill>
              </a:rPr>
              <a:t>Kalsekar</a:t>
            </a:r>
            <a:r>
              <a:rPr lang="en-US" sz="2600" dirty="0">
                <a:solidFill>
                  <a:schemeClr val="bg1"/>
                </a:solidFill>
              </a:rPr>
              <a:t> Technical Campus, New </a:t>
            </a:r>
            <a:r>
              <a:rPr lang="en-US" sz="2600" dirty="0" err="1">
                <a:solidFill>
                  <a:schemeClr val="bg1"/>
                </a:solidFill>
              </a:rPr>
              <a:t>Panvel</a:t>
            </a:r>
            <a:r>
              <a:rPr lang="en-US" sz="26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E8C63A-4744-4DE4-BB49-0FF0B5375C60}">
  <ds:schemaRefs/>
</ds:datastoreItem>
</file>

<file path=customXml/itemProps2.xml><?xml version="1.0" encoding="utf-8"?>
<ds:datastoreItem xmlns:ds="http://schemas.openxmlformats.org/officeDocument/2006/customXml" ds:itemID="{950072C5-DDE0-4258-BA7A-4D4B80DFA632}">
  <ds:schemaRefs>
    <ds:schemaRef ds:uri="http://purl.org/dc/terms/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71af3243-3dd4-4a8d-8c0d-dd76da1f02a5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16c05727-aa75-4e4a-9b5f-8a80a1165891"/>
  </ds:schemaRefs>
</ds:datastoreItem>
</file>

<file path=customXml/itemProps3.xml><?xml version="1.0" encoding="utf-8"?>
<ds:datastoreItem xmlns:ds="http://schemas.openxmlformats.org/officeDocument/2006/customXml" ds:itemID="{FD7FC771-7DFE-49DA-B577-71181BFBCB2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1596</Words>
  <Application>Microsoft Office PowerPoint</Application>
  <PresentationFormat>Widescreen</PresentationFormat>
  <Paragraphs>164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Calibri Light</vt:lpstr>
      <vt:lpstr>Epilogue</vt:lpstr>
      <vt:lpstr>Epilogue Medium</vt:lpstr>
      <vt:lpstr>Segoe UI Light</vt:lpstr>
      <vt:lpstr>Source Sans Pro</vt:lpstr>
      <vt:lpstr>Times New Roman</vt:lpstr>
      <vt:lpstr>Wingdings</vt:lpstr>
      <vt:lpstr>Office Theme</vt:lpstr>
      <vt:lpstr>AIKTC – Anjuman-I-Islam’s Kalsekar Technical Campus. Department of Electronics and Computer Science Engineering</vt:lpstr>
      <vt:lpstr>Outline</vt:lpstr>
      <vt:lpstr>Introduction</vt:lpstr>
      <vt:lpstr>Introduction:</vt:lpstr>
      <vt:lpstr>Literature Survey</vt:lpstr>
      <vt:lpstr>Literature Survey</vt:lpstr>
      <vt:lpstr>Literature Survey</vt:lpstr>
      <vt:lpstr>Limitations</vt:lpstr>
      <vt:lpstr>Limitations of Existing System</vt:lpstr>
      <vt:lpstr>Problem Statement</vt:lpstr>
      <vt:lpstr>Problem Statement</vt:lpstr>
      <vt:lpstr>System Design</vt:lpstr>
      <vt:lpstr> System Design and Architecture</vt:lpstr>
      <vt:lpstr>Proposed Methodology</vt:lpstr>
      <vt:lpstr>Proposed Methodology /Techniques</vt:lpstr>
      <vt:lpstr>Roadmap</vt:lpstr>
      <vt:lpstr> Roadmap</vt:lpstr>
      <vt:lpstr>Implementation Details</vt:lpstr>
      <vt:lpstr>Implementation Details</vt:lpstr>
      <vt:lpstr>Results</vt:lpstr>
      <vt:lpstr>Result Analysis</vt:lpstr>
      <vt:lpstr>PowerPoint Presentation</vt:lpstr>
      <vt:lpstr>PowerPoint Presentation</vt:lpstr>
      <vt:lpstr>Conclusion and References</vt:lpstr>
      <vt:lpstr>Conclusion</vt:lpstr>
      <vt:lpstr>References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2020-03-20T15:04:00Z</dcterms:created>
  <dcterms:modified xsi:type="dcterms:W3CDTF">2025-10-17T09:23:50Z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3AB73782C5DF43E392BDF07C469BA55C_13</vt:lpwstr>
  </property>
  <property fmtid="{D5CDD505-2E9C-101B-9397-08002B2CF9AE}" pid="4" name="KSOProductBuildVer">
    <vt:lpwstr>1033-12.2.0.20326</vt:lpwstr>
  </property>
</Properties>
</file>